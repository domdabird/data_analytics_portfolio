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2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33F1F-F68A-4543-AE9A-0BBBE1C7F62C}" type="datetimeFigureOut">
              <a:rPr lang="de-DE" smtClean="0"/>
              <a:t>30.10.24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96DA6-5324-184A-BC3C-A6CE4E0BA9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61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Milage</a:t>
            </a:r>
            <a:endParaRPr lang="de-DE" dirty="0"/>
          </a:p>
          <a:p>
            <a:r>
              <a:rPr lang="de-DE" dirty="0" err="1"/>
              <a:t>Hp</a:t>
            </a:r>
            <a:endParaRPr lang="de-DE" dirty="0"/>
          </a:p>
          <a:p>
            <a:r>
              <a:rPr lang="de-DE" dirty="0" err="1"/>
              <a:t>year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96DA6-5324-184A-BC3C-A6CE4E0BA9F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1239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Milage</a:t>
            </a:r>
            <a:endParaRPr lang="de-DE" dirty="0"/>
          </a:p>
          <a:p>
            <a:r>
              <a:rPr lang="de-DE" dirty="0" err="1"/>
              <a:t>Hp</a:t>
            </a:r>
            <a:endParaRPr lang="de-DE" dirty="0"/>
          </a:p>
          <a:p>
            <a:r>
              <a:rPr lang="de-DE" dirty="0"/>
              <a:t>Year</a:t>
            </a:r>
          </a:p>
          <a:p>
            <a:r>
              <a:rPr lang="de-DE" dirty="0"/>
              <a:t>Gear</a:t>
            </a:r>
          </a:p>
          <a:p>
            <a:r>
              <a:rPr lang="de-DE" dirty="0" err="1"/>
              <a:t>brand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96DA6-5324-184A-BC3C-A6CE4E0BA9F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83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F570-4FD0-263B-9DAE-33776016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20EA5A-F8DF-1510-4C12-D8ADC80CA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E17D8F9-10EB-0AEF-0F93-5FCA45EC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Milage</a:t>
            </a:r>
            <a:endParaRPr lang="de-DE" dirty="0"/>
          </a:p>
          <a:p>
            <a:r>
              <a:rPr lang="de-DE" dirty="0" err="1"/>
              <a:t>Hp</a:t>
            </a:r>
            <a:endParaRPr lang="de-DE" dirty="0"/>
          </a:p>
          <a:p>
            <a:r>
              <a:rPr lang="de-DE" dirty="0"/>
              <a:t>Year</a:t>
            </a:r>
          </a:p>
          <a:p>
            <a:r>
              <a:rPr lang="de-DE" dirty="0"/>
              <a:t>Gear</a:t>
            </a:r>
          </a:p>
          <a:p>
            <a:r>
              <a:rPr lang="de-DE" dirty="0" err="1"/>
              <a:t>brand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6B9783-4AFF-5C9E-703B-857AAC9B2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96DA6-5324-184A-BC3C-A6CE4E0BA9F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90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485D-832F-1AB2-3F4D-2B8AAF11D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06B451-738F-47B0-12E6-0B3F49535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20304DC-F6D7-5F41-5C9B-5C4362FEF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Milage</a:t>
            </a:r>
            <a:endParaRPr lang="de-DE" dirty="0"/>
          </a:p>
          <a:p>
            <a:r>
              <a:rPr lang="de-DE" dirty="0" err="1"/>
              <a:t>Hp</a:t>
            </a:r>
            <a:endParaRPr lang="de-DE" dirty="0"/>
          </a:p>
          <a:p>
            <a:r>
              <a:rPr lang="de-DE" dirty="0"/>
              <a:t>Year</a:t>
            </a:r>
          </a:p>
          <a:p>
            <a:r>
              <a:rPr lang="de-DE" dirty="0"/>
              <a:t>Gear</a:t>
            </a:r>
          </a:p>
          <a:p>
            <a:r>
              <a:rPr lang="de-DE" dirty="0" err="1"/>
              <a:t>brand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C295EC-17CE-3B22-4155-AF766F64F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96DA6-5324-184A-BC3C-A6CE4E0BA9F2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335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523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4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8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73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72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7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2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30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3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7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svg"/><Relationship Id="rId9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3.svg"/><Relationship Id="rId9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3.svg"/><Relationship Id="rId9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F05D7D-DA14-C6AC-A7E2-CF0A7EAA8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257851-71FD-BBDC-685A-069F9C0A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2500" y="1295400"/>
            <a:ext cx="10618398" cy="46101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D9DF88E1-D646-4B74-E06F-FCD93AD6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04" r="-2" b="23843"/>
          <a:stretch/>
        </p:blipFill>
        <p:spPr>
          <a:xfrm>
            <a:off x="1295401" y="693271"/>
            <a:ext cx="9932598" cy="486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7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54246F-8623-7F3F-7EFA-15A14DAF0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FA2FAF-95C7-611C-D58D-6DDC2755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008" y="641012"/>
            <a:ext cx="4344237" cy="1058132"/>
          </a:xfrm>
        </p:spPr>
        <p:txBody>
          <a:bodyPr>
            <a:normAutofit/>
          </a:bodyPr>
          <a:lstStyle/>
          <a:p>
            <a:r>
              <a:rPr lang="de-DE" dirty="0"/>
              <a:t>Inhaltsangabe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ECDC5D-35FC-480F-B845-D5DFA213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7565" y="1699144"/>
            <a:ext cx="4210593" cy="4739125"/>
          </a:xfrm>
        </p:spPr>
        <p:txBody>
          <a:bodyPr>
            <a:normAutofit/>
          </a:bodyPr>
          <a:lstStyle/>
          <a:p>
            <a:r>
              <a:rPr lang="de-DE" sz="1600" b="1" dirty="0"/>
              <a:t>Analyse</a:t>
            </a:r>
          </a:p>
          <a:p>
            <a:pPr lvl="1"/>
            <a:r>
              <a:rPr lang="de-DE" sz="1200" dirty="0"/>
              <a:t>Verkaufte Autos</a:t>
            </a:r>
          </a:p>
          <a:p>
            <a:pPr lvl="1"/>
            <a:r>
              <a:rPr lang="de-DE" sz="1200" dirty="0"/>
              <a:t>Marken</a:t>
            </a:r>
          </a:p>
          <a:p>
            <a:pPr lvl="1"/>
            <a:r>
              <a:rPr lang="de-DE" sz="1200" dirty="0"/>
              <a:t>Korrelationen num. Features</a:t>
            </a:r>
          </a:p>
          <a:p>
            <a:pPr lvl="1"/>
            <a:r>
              <a:rPr lang="de-DE" sz="1200" dirty="0"/>
              <a:t>Zeitliche Veränderungen</a:t>
            </a:r>
          </a:p>
          <a:p>
            <a:pPr lvl="1"/>
            <a:r>
              <a:rPr lang="de-DE" sz="1200" dirty="0"/>
              <a:t>KM pro Marke</a:t>
            </a:r>
          </a:p>
          <a:p>
            <a:pPr lvl="1"/>
            <a:r>
              <a:rPr lang="de-DE" sz="1200" dirty="0"/>
              <a:t>Häufigste Modelltypen</a:t>
            </a:r>
          </a:p>
          <a:p>
            <a:pPr lvl="1"/>
            <a:r>
              <a:rPr lang="de-DE" sz="1200" dirty="0"/>
              <a:t>Preisentwicklung nach KM</a:t>
            </a:r>
          </a:p>
          <a:p>
            <a:pPr lvl="1"/>
            <a:r>
              <a:rPr lang="de-DE" sz="1200" dirty="0"/>
              <a:t>Preisentwicklung nach Leistung</a:t>
            </a:r>
          </a:p>
          <a:p>
            <a:r>
              <a:rPr lang="de-DE" sz="1600" b="1" dirty="0" err="1"/>
              <a:t>Machine</a:t>
            </a:r>
            <a:r>
              <a:rPr lang="de-DE" sz="1600" b="1" dirty="0"/>
              <a:t> Learning</a:t>
            </a:r>
          </a:p>
          <a:p>
            <a:pPr lvl="1"/>
            <a:r>
              <a:rPr lang="de-DE" sz="1200" dirty="0"/>
              <a:t>Durchschnittlicher Preis nach Marke</a:t>
            </a:r>
          </a:p>
          <a:p>
            <a:pPr lvl="1"/>
            <a:r>
              <a:rPr lang="de-DE" sz="1200" dirty="0"/>
              <a:t>Kategorie von ML - Regression</a:t>
            </a:r>
          </a:p>
          <a:p>
            <a:pPr lvl="1"/>
            <a:r>
              <a:rPr lang="de-DE" sz="1200" dirty="0"/>
              <a:t>Güte des Modells inkl. Fehlermetrik</a:t>
            </a:r>
          </a:p>
          <a:p>
            <a:pPr lvl="1"/>
            <a:r>
              <a:rPr lang="de-DE" sz="1200" dirty="0"/>
              <a:t>Training Modell lineare Regression</a:t>
            </a:r>
          </a:p>
          <a:p>
            <a:pPr lvl="1"/>
            <a:r>
              <a:rPr lang="de-DE" sz="1200" dirty="0"/>
              <a:t>Weitere Modelle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C4BDE1-4D40-5601-7947-DB5EFE31D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7918" y="953965"/>
            <a:ext cx="4281582" cy="4951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12E09BA5-4E76-DD4A-E553-66C3D3093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4"/>
          <a:stretch/>
        </p:blipFill>
        <p:spPr>
          <a:xfrm>
            <a:off x="6204745" y="1699144"/>
            <a:ext cx="4281582" cy="345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2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26ABC-C630-B32D-8247-9FFE44B6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5F3772-19B8-2140-0F8F-93A897679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 sz="1800" dirty="0"/>
              <a:t>Verkaufte Autos</a:t>
            </a:r>
          </a:p>
          <a:p>
            <a:pPr lvl="1"/>
            <a:r>
              <a:rPr lang="de-DE" sz="1800" dirty="0"/>
              <a:t>Marken</a:t>
            </a:r>
          </a:p>
          <a:p>
            <a:pPr lvl="1"/>
            <a:r>
              <a:rPr lang="de-DE" sz="1800" dirty="0"/>
              <a:t>Korrelationen num. Features</a:t>
            </a:r>
          </a:p>
          <a:p>
            <a:pPr lvl="1"/>
            <a:r>
              <a:rPr lang="de-DE" sz="1800" dirty="0"/>
              <a:t>Zeitliche Veränderungen (Preis über Jahre)</a:t>
            </a:r>
          </a:p>
          <a:p>
            <a:pPr lvl="1"/>
            <a:r>
              <a:rPr lang="de-DE" sz="1800" dirty="0"/>
              <a:t>KM pro Marke</a:t>
            </a:r>
          </a:p>
          <a:p>
            <a:pPr lvl="1"/>
            <a:r>
              <a:rPr lang="de-DE" sz="1800" dirty="0"/>
              <a:t>Häufigste Modelltypen</a:t>
            </a:r>
          </a:p>
          <a:p>
            <a:pPr lvl="1"/>
            <a:r>
              <a:rPr lang="de-DE" sz="1800" dirty="0"/>
              <a:t>Preisentwicklung nach KM</a:t>
            </a:r>
          </a:p>
          <a:p>
            <a:pPr lvl="1"/>
            <a:r>
              <a:rPr lang="de-DE" sz="1800" dirty="0"/>
              <a:t>Preisentwicklung nach Leistung</a:t>
            </a:r>
          </a:p>
        </p:txBody>
      </p:sp>
      <p:sp>
        <p:nvSpPr>
          <p:cNvPr id="5" name="Ecken des Rechtecks auf der gleichen Seite abrunden 4">
            <a:extLst>
              <a:ext uri="{FF2B5EF4-FFF2-40B4-BE49-F238E27FC236}">
                <a16:creationId xmlns:a16="http://schemas.microsoft.com/office/drawing/2014/main" id="{71B9AE04-C00A-AC6D-9C71-F02DAB38C179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Cabriolet mit einfarbiger Füllung">
            <a:extLst>
              <a:ext uri="{FF2B5EF4-FFF2-40B4-BE49-F238E27FC236}">
                <a16:creationId xmlns:a16="http://schemas.microsoft.com/office/drawing/2014/main" id="{8AA8396A-0018-88F0-3025-14A347CF4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9" name="Grafik 8" descr="Rennwagen mit einfarbiger Füllung">
            <a:extLst>
              <a:ext uri="{FF2B5EF4-FFF2-40B4-BE49-F238E27FC236}">
                <a16:creationId xmlns:a16="http://schemas.microsoft.com/office/drawing/2014/main" id="{580ED3BC-B364-E13E-D01F-44D68737A2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11" name="Grafik 10" descr="Auto mit einfarbiger Füllung">
            <a:extLst>
              <a:ext uri="{FF2B5EF4-FFF2-40B4-BE49-F238E27FC236}">
                <a16:creationId xmlns:a16="http://schemas.microsoft.com/office/drawing/2014/main" id="{FE168989-AD74-887B-3D57-1DD01FA88B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3" name="Grafik 12" descr="Bus mit einfarbiger Füllung">
            <a:extLst>
              <a:ext uri="{FF2B5EF4-FFF2-40B4-BE49-F238E27FC236}">
                <a16:creationId xmlns:a16="http://schemas.microsoft.com/office/drawing/2014/main" id="{BA1D1180-45A0-174A-FDAE-2F266B833A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045" y="6179343"/>
            <a:ext cx="914400" cy="914400"/>
          </a:xfrm>
          <a:prstGeom prst="rect">
            <a:avLst/>
          </a:prstGeom>
        </p:spPr>
      </p:pic>
      <p:pic>
        <p:nvPicPr>
          <p:cNvPr id="16" name="Grafik 15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D4A7989D-AD24-B9C2-C039-EDA130352B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854"/>
          <a:stretch/>
        </p:blipFill>
        <p:spPr>
          <a:xfrm>
            <a:off x="10413555" y="0"/>
            <a:ext cx="1778445" cy="14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2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036A2-00C5-F8E6-EB99-4A8E53B09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Verkaufte Autos</a:t>
            </a:r>
            <a:endParaRPr lang="de-DE" dirty="0"/>
          </a:p>
        </p:txBody>
      </p:sp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B8C818A3-80F0-DAA8-0E16-1F2997F58F82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EE48DC97-8FFF-4343-18BB-EEDCEB9BC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698256A8-8E7A-1B36-9219-B3B162B91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6580A651-B2CB-195C-E7B6-B5DB595B7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8" name="Grafik 7" descr="Bus mit einfarbiger Füllung">
            <a:extLst>
              <a:ext uri="{FF2B5EF4-FFF2-40B4-BE49-F238E27FC236}">
                <a16:creationId xmlns:a16="http://schemas.microsoft.com/office/drawing/2014/main" id="{3FAF05C7-92AA-F492-80FD-10CBBED774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045" y="617934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E602358-F102-674E-B99C-D5CDEE05E578}"/>
              </a:ext>
            </a:extLst>
          </p:cNvPr>
          <p:cNvSpPr txBox="1"/>
          <p:nvPr/>
        </p:nvSpPr>
        <p:spPr>
          <a:xfrm>
            <a:off x="1778445" y="3059668"/>
            <a:ext cx="33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Anzahl der verkauften Autos: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583B4FA-0C5D-C510-C990-25769CA3C86D}"/>
              </a:ext>
            </a:extLst>
          </p:cNvPr>
          <p:cNvSpPr txBox="1"/>
          <p:nvPr/>
        </p:nvSpPr>
        <p:spPr>
          <a:xfrm>
            <a:off x="7070282" y="3059668"/>
            <a:ext cx="33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Zeitraum der Verkäufe: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CD0F428-1B03-09EB-2768-79BBA67412B3}"/>
              </a:ext>
            </a:extLst>
          </p:cNvPr>
          <p:cNvSpPr txBox="1"/>
          <p:nvPr/>
        </p:nvSpPr>
        <p:spPr>
          <a:xfrm>
            <a:off x="1778445" y="4104798"/>
            <a:ext cx="33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46405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2220619-7EB5-FDD2-EA3B-77CD02A878AE}"/>
              </a:ext>
            </a:extLst>
          </p:cNvPr>
          <p:cNvSpPr txBox="1"/>
          <p:nvPr/>
        </p:nvSpPr>
        <p:spPr>
          <a:xfrm>
            <a:off x="7070280" y="4096344"/>
            <a:ext cx="33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2011 bis 2021</a:t>
            </a:r>
          </a:p>
        </p:txBody>
      </p:sp>
      <p:pic>
        <p:nvPicPr>
          <p:cNvPr id="14" name="Grafik 13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42507199-6F11-228F-BA4D-4793B9B1489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854"/>
          <a:stretch/>
        </p:blipFill>
        <p:spPr>
          <a:xfrm>
            <a:off x="10413555" y="0"/>
            <a:ext cx="1778445" cy="14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6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60D28-61EC-7242-378C-F52C31D70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FEAEA-CB30-2C8D-8EF1-4D11982D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Marken</a:t>
            </a:r>
            <a:endParaRPr lang="de-DE" dirty="0"/>
          </a:p>
        </p:txBody>
      </p:sp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6C4FB60D-9F03-1515-727F-0D2ABAE4A19A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0774B1D0-6B02-F6A6-C161-FE0385B00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80F4B812-0476-C4B8-1020-B097D4316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8F6B1D06-642B-CA10-427C-9D3DC6911E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8" name="Grafik 7" descr="Bus mit einfarbiger Füllung">
            <a:extLst>
              <a:ext uri="{FF2B5EF4-FFF2-40B4-BE49-F238E27FC236}">
                <a16:creationId xmlns:a16="http://schemas.microsoft.com/office/drawing/2014/main" id="{4F9260ED-93C1-3303-8E6E-579B8395A4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045" y="617934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46DC758-A644-5603-D74F-29CE1C171B0D}"/>
              </a:ext>
            </a:extLst>
          </p:cNvPr>
          <p:cNvSpPr txBox="1"/>
          <p:nvPr/>
        </p:nvSpPr>
        <p:spPr>
          <a:xfrm>
            <a:off x="97439" y="1894967"/>
            <a:ext cx="28554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9ff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Abarth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AiXam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Alpina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Alpine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Aston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Baic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Bentley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BMW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Brilliance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Cadillac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Caravans-</a:t>
            </a:r>
            <a:r>
              <a:rPr lang="de-DE" dirty="0" err="1"/>
              <a:t>Wohnm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Chevrolet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43F1FEE-F3EC-D2CE-11C9-6BA2DC183FD9}"/>
              </a:ext>
            </a:extLst>
          </p:cNvPr>
          <p:cNvSpPr txBox="1"/>
          <p:nvPr/>
        </p:nvSpPr>
        <p:spPr>
          <a:xfrm>
            <a:off x="2439573" y="1894966"/>
            <a:ext cx="19772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14"/>
            </a:pPr>
            <a:r>
              <a:rPr lang="de-DE" dirty="0"/>
              <a:t>Chrysler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Citroen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Corvette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Cupra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DAF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Dacia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Daihatsu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DFSK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Dodge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DS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 err="1"/>
              <a:t>Estrima</a:t>
            </a:r>
            <a:endParaRPr lang="de-DE" dirty="0"/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Ferrari</a:t>
            </a:r>
          </a:p>
          <a:p>
            <a:pPr marL="342900" indent="-342900">
              <a:buFont typeface="+mj-lt"/>
              <a:buAutoNum type="arabicPeriod" startAt="14"/>
            </a:pPr>
            <a:r>
              <a:rPr lang="de-DE" dirty="0"/>
              <a:t>Fiat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8DE4A13-E875-C93A-B9B8-C44765C515C0}"/>
              </a:ext>
            </a:extLst>
          </p:cNvPr>
          <p:cNvSpPr txBox="1"/>
          <p:nvPr/>
        </p:nvSpPr>
        <p:spPr>
          <a:xfrm>
            <a:off x="4020994" y="1894965"/>
            <a:ext cx="19772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7"/>
            </a:pPr>
            <a:r>
              <a:rPr lang="de-DE" dirty="0"/>
              <a:t>FISKER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Ford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Honda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Hyundai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 err="1"/>
              <a:t>Infiniti</a:t>
            </a:r>
            <a:endParaRPr lang="de-DE" dirty="0"/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Isuzu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Iveco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Jaguar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Jeep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Kia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Lada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Lamborghini</a:t>
            </a:r>
          </a:p>
          <a:p>
            <a:pPr marL="342900" indent="-342900">
              <a:buFont typeface="+mj-lt"/>
              <a:buAutoNum type="arabicPeriod" startAt="27"/>
            </a:pPr>
            <a:r>
              <a:rPr lang="de-DE" dirty="0"/>
              <a:t>Lancia</a:t>
            </a:r>
          </a:p>
          <a:p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A640B4E-3923-8F6F-01A8-F9139976274D}"/>
              </a:ext>
            </a:extLst>
          </p:cNvPr>
          <p:cNvSpPr txBox="1"/>
          <p:nvPr/>
        </p:nvSpPr>
        <p:spPr>
          <a:xfrm>
            <a:off x="5827584" y="1894968"/>
            <a:ext cx="19772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0"/>
            </a:pPr>
            <a:r>
              <a:rPr lang="de-DE" dirty="0"/>
              <a:t>Land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Lexus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Ligier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Lotus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Maserati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Maybach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Mazda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McLaren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Mercedes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Lada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Lamborghini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Lancia</a:t>
            </a:r>
          </a:p>
          <a:p>
            <a:pPr marL="342900" indent="-342900">
              <a:buFont typeface="+mj-lt"/>
              <a:buAutoNum type="arabicPeriod" startAt="40"/>
            </a:pPr>
            <a:r>
              <a:rPr lang="de-DE" dirty="0"/>
              <a:t>Nissan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0B76B96-B1CE-E03A-19C3-4295D58F2EA7}"/>
              </a:ext>
            </a:extLst>
          </p:cNvPr>
          <p:cNvSpPr txBox="1"/>
          <p:nvPr/>
        </p:nvSpPr>
        <p:spPr>
          <a:xfrm>
            <a:off x="7804880" y="1894966"/>
            <a:ext cx="19772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3"/>
            </a:pPr>
            <a:r>
              <a:rPr lang="de-DE" dirty="0"/>
              <a:t>Opel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Peugeot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Piaggio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 err="1"/>
              <a:t>Polestar</a:t>
            </a:r>
            <a:endParaRPr lang="de-DE" dirty="0"/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Porsche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Ram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Renault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Rolls-Royce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SEAT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Skoda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Smart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SsangYong</a:t>
            </a:r>
          </a:p>
          <a:p>
            <a:pPr marL="342900" indent="-342900">
              <a:buFont typeface="+mj-lt"/>
              <a:buAutoNum type="arabicPeriod" startAt="53"/>
            </a:pPr>
            <a:r>
              <a:rPr lang="de-DE" dirty="0"/>
              <a:t>Subaru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84D6BF6-84AE-803B-89AD-AA78C1E5CF9B}"/>
              </a:ext>
            </a:extLst>
          </p:cNvPr>
          <p:cNvSpPr txBox="1"/>
          <p:nvPr/>
        </p:nvSpPr>
        <p:spPr>
          <a:xfrm>
            <a:off x="9934225" y="1894965"/>
            <a:ext cx="23110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6"/>
            </a:pPr>
            <a:r>
              <a:rPr lang="de-DE" dirty="0"/>
              <a:t>Suzuki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de-DE" dirty="0" err="1"/>
              <a:t>Tazzari</a:t>
            </a:r>
            <a:endParaRPr lang="de-DE" dirty="0"/>
          </a:p>
          <a:p>
            <a:pPr marL="342900" indent="-342900">
              <a:buFont typeface="+mj-lt"/>
              <a:buAutoNum type="arabicPeriod" startAt="66"/>
            </a:pPr>
            <a:r>
              <a:rPr lang="de-DE" dirty="0"/>
              <a:t>Tesla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de-DE" dirty="0"/>
              <a:t>Toyota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de-DE" dirty="0"/>
              <a:t>Volkswagen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de-DE" dirty="0"/>
              <a:t>Volvo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de-DE" dirty="0" err="1"/>
              <a:t>Zhidou</a:t>
            </a:r>
            <a:endParaRPr lang="de-DE" dirty="0"/>
          </a:p>
          <a:p>
            <a:pPr marL="342900" indent="-342900">
              <a:buFont typeface="+mj-lt"/>
              <a:buAutoNum type="arabicPeriod" startAt="66"/>
            </a:pPr>
            <a:endParaRPr lang="de-DE" dirty="0"/>
          </a:p>
          <a:p>
            <a:pPr marL="342900" indent="-342900">
              <a:buFont typeface="+mj-lt"/>
              <a:buAutoNum type="arabicPeriod" startAt="66"/>
            </a:pPr>
            <a:r>
              <a:rPr lang="de-DE" dirty="0" err="1"/>
              <a:t>Others</a:t>
            </a:r>
            <a:endParaRPr lang="de-DE" dirty="0"/>
          </a:p>
          <a:p>
            <a:pPr marL="342900" indent="-342900">
              <a:buFont typeface="+mj-lt"/>
              <a:buAutoNum type="arabicPeriod" startAt="66"/>
            </a:pPr>
            <a:r>
              <a:rPr lang="de-DE" dirty="0"/>
              <a:t>Trailer/Anhänger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de-DE" dirty="0"/>
              <a:t>Trucks-Lkw</a:t>
            </a:r>
          </a:p>
        </p:txBody>
      </p:sp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2D52B57B-692B-A445-9C87-8BC723CB55C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854"/>
          <a:stretch/>
        </p:blipFill>
        <p:spPr>
          <a:xfrm>
            <a:off x="10413555" y="0"/>
            <a:ext cx="1778445" cy="14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8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54449-87B2-1DB4-8743-1B03FC4F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72641300-8DC2-4F64-8F8F-26EB95134699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D65BD4EB-018D-0124-4D5B-F7679A16D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D7455F65-8C65-458C-1434-6FE37CB17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DC481EEB-1726-D823-F4E9-05F975E252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1AC899FD-9E7F-9DA8-B8A5-3C6E7CB368B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5BF84CBA-B052-3A9D-111B-D067C5EF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1500"/>
            <a:ext cx="4038600" cy="4129087"/>
          </a:xfrm>
        </p:spPr>
        <p:txBody>
          <a:bodyPr/>
          <a:lstStyle/>
          <a:p>
            <a:r>
              <a:rPr lang="de-DE" dirty="0"/>
              <a:t>Korrelation num. Features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9C25D4E2-BB72-4DD5-D972-EE9855A8FE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9038" y="0"/>
            <a:ext cx="8462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4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73F2A-A2F5-7A4D-9B1E-376B3744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9B1C3B96-CDF9-88B7-CCA6-43D7F0C79383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87875AAF-F477-CEA6-2985-0949CB7CA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8E4A5F67-3B6C-79EE-5727-2C3E7AFF6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4313316F-2645-DB42-3F32-8A556EDDAB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F85341E4-0F84-596A-D6A4-190498383EB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CEE6F24-0A3C-E0D5-C1D2-FBD0961527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8340" y="0"/>
            <a:ext cx="805532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18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8D97-8871-25DE-F822-3681D27D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9078B2D1-3309-F004-6746-6C942D29216E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EB6A7F37-4F9D-C138-5A84-E2F904B4A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90CAF3C7-E885-3BE7-A80F-4AA4823C0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EB81CA33-F970-A345-E42B-98561816E5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C5580E22-0FE3-F973-8AA5-E25A0F7203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ED17CD6-5B45-CFB3-7147-11F5FDE744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CDA919F-AA20-E191-6CDC-38E25B3FD0E8}"/>
              </a:ext>
            </a:extLst>
          </p:cNvPr>
          <p:cNvCxnSpPr/>
          <p:nvPr/>
        </p:nvCxnSpPr>
        <p:spPr>
          <a:xfrm flipV="1">
            <a:off x="445168" y="3200400"/>
            <a:ext cx="11746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F9DD1FEB-DAC2-241E-C23C-94F57F98319E}"/>
              </a:ext>
            </a:extLst>
          </p:cNvPr>
          <p:cNvCxnSpPr/>
          <p:nvPr/>
        </p:nvCxnSpPr>
        <p:spPr>
          <a:xfrm flipV="1">
            <a:off x="445168" y="3665621"/>
            <a:ext cx="11746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178DFEB9-F96C-E4AC-34A6-35D050207CE9}"/>
              </a:ext>
            </a:extLst>
          </p:cNvPr>
          <p:cNvCxnSpPr/>
          <p:nvPr/>
        </p:nvCxnSpPr>
        <p:spPr>
          <a:xfrm flipV="1">
            <a:off x="445168" y="4046621"/>
            <a:ext cx="11746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226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453B9-A805-9702-A630-53FF4645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11131C21-EE4C-1208-BFD5-5A8DF49F14C0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DC69822F-FB67-DCEF-1E08-CF55C87CE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5B2BA4B2-6FBB-B197-EED0-993B212FB2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873BDA32-9A0F-D244-A4B9-DB0C9629CB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931F24E1-9356-5426-F73D-DD985827A95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E217378-0F5A-4979-2F66-682DC1EDDA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044" y="0"/>
            <a:ext cx="10450573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94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E29E9-7F0B-2EAA-18C8-96143B27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52613035-DA34-CB18-1A79-78921EE0F17B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22F0C165-B7EB-46CB-8C92-405C5AEE1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887D3499-942F-3265-37B0-199F60FE2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07782AAE-1203-1ABE-D94D-336B66D6C0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A42A6AB2-3D04-58B1-8924-6130F0E8C3E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9E7454B-A008-5AFE-2E08-BF79B35497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498" y="0"/>
            <a:ext cx="11085004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8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210F9-CA92-0E0C-FF3D-D5D20856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C02C23DA-3792-9471-B2C9-7306C58B4DB2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3CE55C03-9CB9-3237-F414-AD3B0A583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D6498A3C-BDB3-666C-DBB9-BE266F9D9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265CF7E3-9E71-7E58-433D-85C8C6DB1F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0786CE11-4803-2AA3-FA2E-F7E2D90D25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0F18A57-4B38-4C5B-EAA4-D80A81FB60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443" y="-2422"/>
            <a:ext cx="11187113" cy="59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95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87EF-6922-FB6E-4412-1F0D9D49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A57E6-63D1-D688-C89B-F768AC03D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2AC65-2696-A70C-3278-F40D6F767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 sz="1800" dirty="0"/>
              <a:t>Durchschnittlicher Preis nach Marke</a:t>
            </a:r>
          </a:p>
          <a:p>
            <a:pPr lvl="1"/>
            <a:r>
              <a:rPr lang="de-DE" sz="1800" dirty="0"/>
              <a:t>Modell lineare Regression</a:t>
            </a:r>
          </a:p>
          <a:p>
            <a:pPr lvl="1"/>
            <a:r>
              <a:rPr lang="de-DE" sz="1800" dirty="0"/>
              <a:t>Kategorie von ML - Regression</a:t>
            </a:r>
          </a:p>
          <a:p>
            <a:pPr lvl="1"/>
            <a:r>
              <a:rPr lang="de-DE" sz="1800" dirty="0"/>
              <a:t>Güte des Modells inkl. Fehlermetrik</a:t>
            </a:r>
          </a:p>
          <a:p>
            <a:pPr lvl="1"/>
            <a:r>
              <a:rPr lang="de-DE" sz="1800" dirty="0"/>
              <a:t>Modell lineare Regression</a:t>
            </a:r>
          </a:p>
          <a:p>
            <a:pPr lvl="1"/>
            <a:r>
              <a:rPr lang="de-DE" sz="1800" dirty="0"/>
              <a:t>Weitere Modelle</a:t>
            </a:r>
          </a:p>
        </p:txBody>
      </p:sp>
      <p:sp>
        <p:nvSpPr>
          <p:cNvPr id="5" name="Ecken des Rechtecks auf der gleichen Seite abrunden 4">
            <a:extLst>
              <a:ext uri="{FF2B5EF4-FFF2-40B4-BE49-F238E27FC236}">
                <a16:creationId xmlns:a16="http://schemas.microsoft.com/office/drawing/2014/main" id="{87E21E3A-CA2D-5353-BCBC-8E1C71558DFF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Cabriolet mit einfarbiger Füllung">
            <a:extLst>
              <a:ext uri="{FF2B5EF4-FFF2-40B4-BE49-F238E27FC236}">
                <a16:creationId xmlns:a16="http://schemas.microsoft.com/office/drawing/2014/main" id="{EB4EADC6-1CF4-A031-BF03-76221D8CC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9" name="Grafik 8" descr="Rennwagen mit einfarbiger Füllung">
            <a:extLst>
              <a:ext uri="{FF2B5EF4-FFF2-40B4-BE49-F238E27FC236}">
                <a16:creationId xmlns:a16="http://schemas.microsoft.com/office/drawing/2014/main" id="{2F9D3215-FD51-D898-6159-18405B88D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11" name="Grafik 10" descr="Auto mit einfarbiger Füllung">
            <a:extLst>
              <a:ext uri="{FF2B5EF4-FFF2-40B4-BE49-F238E27FC236}">
                <a16:creationId xmlns:a16="http://schemas.microsoft.com/office/drawing/2014/main" id="{1B4A1407-4C47-159B-EE26-04C15A8BA4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3" name="Grafik 12" descr="Bus mit einfarbiger Füllung">
            <a:extLst>
              <a:ext uri="{FF2B5EF4-FFF2-40B4-BE49-F238E27FC236}">
                <a16:creationId xmlns:a16="http://schemas.microsoft.com/office/drawing/2014/main" id="{D412A7A6-8B6A-36CC-6602-D5A5213E18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045" y="6179343"/>
            <a:ext cx="914400" cy="914400"/>
          </a:xfrm>
          <a:prstGeom prst="rect">
            <a:avLst/>
          </a:prstGeom>
        </p:spPr>
      </p:pic>
      <p:pic>
        <p:nvPicPr>
          <p:cNvPr id="16" name="Grafik 15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6150237E-0EDE-D097-7064-D6951A70E5F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854"/>
          <a:stretch/>
        </p:blipFill>
        <p:spPr>
          <a:xfrm>
            <a:off x="10413555" y="0"/>
            <a:ext cx="1778445" cy="14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73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802DC-78D6-5213-0796-269ED9DE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6AA37B14-7CFD-265D-DF90-E03649CC4FFA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D94F55DC-B9BF-9F00-BDD9-9F0139BDB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B6163AE4-E5E9-FDBD-B528-11982E5DD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BF48CD28-64A6-BEA9-FFBF-CAB8CC34DE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DFE344B6-BE70-3068-8A49-E71A7E99E1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735AA78-DFCE-E3B0-2958-A415F21AA6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155" y="0"/>
            <a:ext cx="10085689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5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FD86-E964-6F03-1C5B-1B2BC910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DA151F-99E2-1C32-9340-0500FA7B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Kategorie von ML - Regression</a:t>
            </a:r>
            <a:endParaRPr lang="de-DE" dirty="0"/>
          </a:p>
        </p:txBody>
      </p:sp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160A56EC-4989-03C4-C57A-40716AF9B88E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F03FC2A3-43F6-F301-2751-93CA82167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7CC99C20-3AC5-8F8D-FA8B-DF496D1181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08630A25-5511-CFDE-7A6C-6A0A5D668A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8" name="Grafik 7" descr="Bus mit einfarbiger Füllung">
            <a:extLst>
              <a:ext uri="{FF2B5EF4-FFF2-40B4-BE49-F238E27FC236}">
                <a16:creationId xmlns:a16="http://schemas.microsoft.com/office/drawing/2014/main" id="{138A6BBC-6517-9E1D-9BA0-B1120B814C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045" y="617934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DFBD080-6FBD-0C24-6238-5330016A3D39}"/>
              </a:ext>
            </a:extLst>
          </p:cNvPr>
          <p:cNvSpPr txBox="1"/>
          <p:nvPr/>
        </p:nvSpPr>
        <p:spPr>
          <a:xfrm>
            <a:off x="1778445" y="2383870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Überwachtes Lernen:</a:t>
            </a:r>
          </a:p>
        </p:txBody>
      </p:sp>
      <p:pic>
        <p:nvPicPr>
          <p:cNvPr id="14" name="Grafik 13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59DD9239-7D34-C722-2D2B-506FB9CBA41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854"/>
          <a:stretch/>
        </p:blipFill>
        <p:spPr>
          <a:xfrm>
            <a:off x="10413555" y="0"/>
            <a:ext cx="1778445" cy="143706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E16E2A0-1964-4219-C6B3-9CEBDD4337FD}"/>
              </a:ext>
            </a:extLst>
          </p:cNvPr>
          <p:cNvSpPr txBox="1"/>
          <p:nvPr/>
        </p:nvSpPr>
        <p:spPr>
          <a:xfrm>
            <a:off x="5643562" y="2383870"/>
            <a:ext cx="4557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Modell wird auf Datensatz trainiert, der Features und Zielwerte enthält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CBB375D-5F0B-0158-65A5-0CEC51AEB2D9}"/>
              </a:ext>
            </a:extLst>
          </p:cNvPr>
          <p:cNvSpPr txBox="1"/>
          <p:nvPr/>
        </p:nvSpPr>
        <p:spPr>
          <a:xfrm>
            <a:off x="1778444" y="3311426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Regression: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41433D9-7E52-0039-F78E-9AA5E6845DB9}"/>
              </a:ext>
            </a:extLst>
          </p:cNvPr>
          <p:cNvSpPr txBox="1"/>
          <p:nvPr/>
        </p:nvSpPr>
        <p:spPr>
          <a:xfrm>
            <a:off x="5624862" y="3311426"/>
            <a:ext cx="478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Zielvariable nimmt kontinuierliche Werte an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BAEA009-1928-4E5E-B6DB-4B4B479682EE}"/>
              </a:ext>
            </a:extLst>
          </p:cNvPr>
          <p:cNvSpPr txBox="1"/>
          <p:nvPr/>
        </p:nvSpPr>
        <p:spPr>
          <a:xfrm>
            <a:off x="1778444" y="4238982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Ziel: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42BA6F8-B0E6-936B-ADBA-40735AC89B9E}"/>
              </a:ext>
            </a:extLst>
          </p:cNvPr>
          <p:cNvSpPr txBox="1"/>
          <p:nvPr/>
        </p:nvSpPr>
        <p:spPr>
          <a:xfrm>
            <a:off x="5643562" y="4238982"/>
            <a:ext cx="4788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Vorhersage nummerischer Werte, keine Kategorie oder Klasse</a:t>
            </a:r>
          </a:p>
        </p:txBody>
      </p:sp>
    </p:spTree>
    <p:extLst>
      <p:ext uri="{BB962C8B-B14F-4D97-AF65-F5344CB8AC3E}">
        <p14:creationId xmlns:p14="http://schemas.microsoft.com/office/powerpoint/2010/main" val="1301156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8E8CB-F330-9D42-F831-CFFBED71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2EBE5-8EBF-F091-DF02-BB38F3EE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55" y="586492"/>
            <a:ext cx="9601200" cy="1309687"/>
          </a:xfrm>
        </p:spPr>
        <p:txBody>
          <a:bodyPr/>
          <a:lstStyle/>
          <a:p>
            <a:r>
              <a:rPr lang="de-DE" sz="2800" dirty="0"/>
              <a:t>Güte des Modells inkl. Fehlermetrik</a:t>
            </a:r>
            <a:endParaRPr lang="de-DE" dirty="0"/>
          </a:p>
        </p:txBody>
      </p:sp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BE380F9F-251D-A057-8FDF-543714DAD8D4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53F8CF30-2606-697F-D5A6-36E4FC1FB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C712B591-ABB5-8826-47AA-CB0FDB259E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6B97A7C9-346F-DA84-5C1E-4B92CABD2A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8" name="Grafik 7" descr="Bus mit einfarbiger Füllung">
            <a:extLst>
              <a:ext uri="{FF2B5EF4-FFF2-40B4-BE49-F238E27FC236}">
                <a16:creationId xmlns:a16="http://schemas.microsoft.com/office/drawing/2014/main" id="{1F54887A-D883-584E-4946-49BA76530E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045" y="617934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B909C26-7BD8-A64C-F98D-32700F094ACA}"/>
              </a:ext>
            </a:extLst>
          </p:cNvPr>
          <p:cNvSpPr txBox="1"/>
          <p:nvPr/>
        </p:nvSpPr>
        <p:spPr>
          <a:xfrm>
            <a:off x="880363" y="2553694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Mean </a:t>
            </a:r>
            <a:r>
              <a:rPr lang="de-DE" dirty="0" err="1"/>
              <a:t>Squared</a:t>
            </a:r>
            <a:r>
              <a:rPr lang="de-DE" dirty="0"/>
              <a:t> Error:</a:t>
            </a:r>
          </a:p>
        </p:txBody>
      </p:sp>
      <p:pic>
        <p:nvPicPr>
          <p:cNvPr id="14" name="Grafik 13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CC9E84F0-9B24-6824-1A57-59C92685E5C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854"/>
          <a:stretch/>
        </p:blipFill>
        <p:spPr>
          <a:xfrm>
            <a:off x="10413555" y="0"/>
            <a:ext cx="1778445" cy="143706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1801AA7-226F-CF2A-2285-BCB2F676357A}"/>
              </a:ext>
            </a:extLst>
          </p:cNvPr>
          <p:cNvSpPr txBox="1"/>
          <p:nvPr/>
        </p:nvSpPr>
        <p:spPr>
          <a:xfrm>
            <a:off x="5024436" y="2553694"/>
            <a:ext cx="455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Größere Abweichung durch Quadrierung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C583BA-2128-CD79-0DF3-BFE353C3D6D2}"/>
              </a:ext>
            </a:extLst>
          </p:cNvPr>
          <p:cNvSpPr txBox="1"/>
          <p:nvPr/>
        </p:nvSpPr>
        <p:spPr>
          <a:xfrm>
            <a:off x="864045" y="3096993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Root Mean </a:t>
            </a:r>
            <a:r>
              <a:rPr lang="de-DE" dirty="0" err="1"/>
              <a:t>Squared</a:t>
            </a:r>
            <a:r>
              <a:rPr lang="de-DE" dirty="0"/>
              <a:t> Error: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EEFE752-5995-1C93-C97B-580F890230B0}"/>
              </a:ext>
            </a:extLst>
          </p:cNvPr>
          <p:cNvSpPr txBox="1"/>
          <p:nvPr/>
        </p:nvSpPr>
        <p:spPr>
          <a:xfrm>
            <a:off x="5024436" y="3097990"/>
            <a:ext cx="478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Intuitiv, gleicher Maßstab wie Zielvariable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E61F24-8F27-0E72-0639-D6E3A02EB40F}"/>
              </a:ext>
            </a:extLst>
          </p:cNvPr>
          <p:cNvSpPr txBox="1"/>
          <p:nvPr/>
        </p:nvSpPr>
        <p:spPr>
          <a:xfrm>
            <a:off x="880363" y="2007964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Güte: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DC92BC-09BC-9052-8C79-F0E28886C6B3}"/>
              </a:ext>
            </a:extLst>
          </p:cNvPr>
          <p:cNvSpPr txBox="1"/>
          <p:nvPr/>
        </p:nvSpPr>
        <p:spPr>
          <a:xfrm>
            <a:off x="5024437" y="2007964"/>
            <a:ext cx="5791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Wird anhand von Fehlermetrik/ Abweichung evaluiert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04557D5-B717-435D-61C1-B84F48FB24E3}"/>
              </a:ext>
            </a:extLst>
          </p:cNvPr>
          <p:cNvSpPr txBox="1"/>
          <p:nvPr/>
        </p:nvSpPr>
        <p:spPr>
          <a:xfrm>
            <a:off x="880363" y="3636682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Mean Absolut Error: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0551ACA-D9E6-EB4C-8D7F-29BF0FEFC893}"/>
              </a:ext>
            </a:extLst>
          </p:cNvPr>
          <p:cNvSpPr txBox="1"/>
          <p:nvPr/>
        </p:nvSpPr>
        <p:spPr>
          <a:xfrm>
            <a:off x="5024436" y="3636682"/>
            <a:ext cx="561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Robuster gegenüber Ausreißern, wird nicht quadriert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7D02EC3-3F5E-858F-FCE6-5FBA323C4C85}"/>
              </a:ext>
            </a:extLst>
          </p:cNvPr>
          <p:cNvSpPr txBox="1"/>
          <p:nvPr/>
        </p:nvSpPr>
        <p:spPr>
          <a:xfrm>
            <a:off x="880363" y="4176371"/>
            <a:ext cx="386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</a:t>
            </a:r>
            <a:r>
              <a:rPr lang="de-DE" baseline="30000" dirty="0"/>
              <a:t>2</a:t>
            </a:r>
            <a:r>
              <a:rPr lang="de-DE" dirty="0"/>
              <a:t> – Score: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38E8102-960C-ACFB-93B3-6B0BE2902F25}"/>
              </a:ext>
            </a:extLst>
          </p:cNvPr>
          <p:cNvSpPr txBox="1"/>
          <p:nvPr/>
        </p:nvSpPr>
        <p:spPr>
          <a:xfrm>
            <a:off x="5024436" y="4175374"/>
            <a:ext cx="561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Ergebnis zwischen 0 und 1. 1 = perfekte Vorhersage</a:t>
            </a:r>
          </a:p>
        </p:txBody>
      </p:sp>
    </p:spTree>
    <p:extLst>
      <p:ext uri="{BB962C8B-B14F-4D97-AF65-F5344CB8AC3E}">
        <p14:creationId xmlns:p14="http://schemas.microsoft.com/office/powerpoint/2010/main" val="567050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1467F-F686-6400-88F9-FDC6612F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A37D2730-9A20-662E-0774-CB61F2D62A2D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E9324E94-DFE7-116C-1D94-D57DBE9CB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402685DD-372B-EDA3-95D3-3172608A1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5504B0E2-41CD-4853-A964-68FEE74EEB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5C2A4EED-7990-C589-0308-231501E16C9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6C25981-F84D-5BAB-3266-461E00C993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9020" y="0"/>
            <a:ext cx="9502980" cy="59055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2FDFD51-A96C-07E9-DB68-CF6E031220F5}"/>
              </a:ext>
            </a:extLst>
          </p:cNvPr>
          <p:cNvSpPr txBox="1"/>
          <p:nvPr/>
        </p:nvSpPr>
        <p:spPr>
          <a:xfrm>
            <a:off x="329862" y="1076920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RMSE: 4727,43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707513A-1E7F-5FCF-0935-6F6F43E74AFE}"/>
              </a:ext>
            </a:extLst>
          </p:cNvPr>
          <p:cNvSpPr txBox="1"/>
          <p:nvPr/>
        </p:nvSpPr>
        <p:spPr>
          <a:xfrm>
            <a:off x="329862" y="3349793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VW: 16065,93€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6DA341A-17FE-2B6C-D3FA-6571E361777C}"/>
              </a:ext>
            </a:extLst>
          </p:cNvPr>
          <p:cNvSpPr txBox="1"/>
          <p:nvPr/>
        </p:nvSpPr>
        <p:spPr>
          <a:xfrm>
            <a:off x="329862" y="2879378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Durchschnitt: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DC49FDC-1929-9366-ACCB-8A973CD130C1}"/>
              </a:ext>
            </a:extLst>
          </p:cNvPr>
          <p:cNvSpPr txBox="1"/>
          <p:nvPr/>
        </p:nvSpPr>
        <p:spPr>
          <a:xfrm>
            <a:off x="329862" y="3715196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Ford: 13791,45€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FA8FE40-87BB-AA46-786F-4FDB0EE62EA5}"/>
              </a:ext>
            </a:extLst>
          </p:cNvPr>
          <p:cNvSpPr txBox="1"/>
          <p:nvPr/>
        </p:nvSpPr>
        <p:spPr>
          <a:xfrm>
            <a:off x="329862" y="4103042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Opel: 10442,96€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64D9F9-7912-3C48-1428-75B436CFE0AD}"/>
              </a:ext>
            </a:extLst>
          </p:cNvPr>
          <p:cNvSpPr txBox="1"/>
          <p:nvPr/>
        </p:nvSpPr>
        <p:spPr>
          <a:xfrm>
            <a:off x="329862" y="709553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MSE: 22348633,58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C2CF1E9-B8EA-F8DC-82DD-9743D3FCAFA2}"/>
              </a:ext>
            </a:extLst>
          </p:cNvPr>
          <p:cNvSpPr txBox="1"/>
          <p:nvPr/>
        </p:nvSpPr>
        <p:spPr>
          <a:xfrm>
            <a:off x="329862" y="1444288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MAE: 3013,94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EAC1A3F-5537-DB0E-F2F4-182EEFC1F0A5}"/>
              </a:ext>
            </a:extLst>
          </p:cNvPr>
          <p:cNvSpPr txBox="1"/>
          <p:nvPr/>
        </p:nvSpPr>
        <p:spPr>
          <a:xfrm>
            <a:off x="329862" y="1811655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</a:t>
            </a:r>
            <a:r>
              <a:rPr lang="de-DE" baseline="30000" dirty="0"/>
              <a:t>2</a:t>
            </a:r>
            <a:r>
              <a:rPr lang="de-DE" dirty="0"/>
              <a:t> Score: 0,76</a:t>
            </a:r>
          </a:p>
        </p:txBody>
      </p:sp>
    </p:spTree>
    <p:extLst>
      <p:ext uri="{BB962C8B-B14F-4D97-AF65-F5344CB8AC3E}">
        <p14:creationId xmlns:p14="http://schemas.microsoft.com/office/powerpoint/2010/main" val="241860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0D87-67DC-DAD9-F46E-E171AA2E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DC5D8D76-2BB5-6E55-2700-29E410D07E92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4962F5EA-8E65-539D-FAFB-77D93F283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9EE6EF72-D902-40D6-33DC-7CD097FE45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3514ACEB-7A46-FC34-D451-BFFA168E4A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C9CE1D33-E15D-A060-D73D-D8CB81EF489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7574509-90ED-0396-D7E2-86CBBD01D58E}"/>
              </a:ext>
            </a:extLst>
          </p:cNvPr>
          <p:cNvSpPr txBox="1"/>
          <p:nvPr/>
        </p:nvSpPr>
        <p:spPr>
          <a:xfrm>
            <a:off x="329862" y="1076920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RMSE: 5360,58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7D8B2F-CB14-ABEC-96CB-F5F5ED51886B}"/>
              </a:ext>
            </a:extLst>
          </p:cNvPr>
          <p:cNvSpPr txBox="1"/>
          <p:nvPr/>
        </p:nvSpPr>
        <p:spPr>
          <a:xfrm>
            <a:off x="329862" y="3349793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VW: 16065,93€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650D72E-72D1-3D61-E947-2B2A2B7DE26B}"/>
              </a:ext>
            </a:extLst>
          </p:cNvPr>
          <p:cNvSpPr txBox="1"/>
          <p:nvPr/>
        </p:nvSpPr>
        <p:spPr>
          <a:xfrm>
            <a:off x="329862" y="2879378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Durchschnitt: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13FC074-3253-D9C8-A430-CF56FC35BEB9}"/>
              </a:ext>
            </a:extLst>
          </p:cNvPr>
          <p:cNvSpPr txBox="1"/>
          <p:nvPr/>
        </p:nvSpPr>
        <p:spPr>
          <a:xfrm>
            <a:off x="329862" y="3715196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Ford: 13791,45€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886271D-25FB-D0B2-D373-73CAF348B6F7}"/>
              </a:ext>
            </a:extLst>
          </p:cNvPr>
          <p:cNvSpPr txBox="1"/>
          <p:nvPr/>
        </p:nvSpPr>
        <p:spPr>
          <a:xfrm>
            <a:off x="329862" y="4103042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Opel: 10442,96€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E2C259D-201A-CAD6-CFF3-98FFFA2A21C4}"/>
              </a:ext>
            </a:extLst>
          </p:cNvPr>
          <p:cNvSpPr txBox="1"/>
          <p:nvPr/>
        </p:nvSpPr>
        <p:spPr>
          <a:xfrm>
            <a:off x="329862" y="709553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MSE: 28735781,21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1E6EFE-BE47-5C34-2910-0383166AE53D}"/>
              </a:ext>
            </a:extLst>
          </p:cNvPr>
          <p:cNvSpPr txBox="1"/>
          <p:nvPr/>
        </p:nvSpPr>
        <p:spPr>
          <a:xfrm>
            <a:off x="329862" y="1444288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MAE: 3329,05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A0D63A2-79FD-779E-F0D2-A4271A2093B3}"/>
              </a:ext>
            </a:extLst>
          </p:cNvPr>
          <p:cNvSpPr txBox="1"/>
          <p:nvPr/>
        </p:nvSpPr>
        <p:spPr>
          <a:xfrm>
            <a:off x="329862" y="1811655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</a:t>
            </a:r>
            <a:r>
              <a:rPr lang="de-DE" baseline="30000" dirty="0"/>
              <a:t>2</a:t>
            </a:r>
            <a:r>
              <a:rPr lang="de-DE" dirty="0"/>
              <a:t> Score: 0,69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DE9DC681-73A6-D199-41D6-763E1A5409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9020" y="0"/>
            <a:ext cx="950298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91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6721-93FF-4518-B9CC-8564C23F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37CE7CDA-4BD6-0239-B983-4AC60FBB5A9B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7F722EF5-75C2-BEE6-0EE4-53A2B52C4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780A3E6E-948D-6154-310A-A1D016462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7529380F-0D95-B3FA-AE45-8A8CCC0E00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973E074F-238F-B93F-2A1D-6ABFB8E7B7C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625B7EB-B6E7-0C33-FB49-9FE4FA130B12}"/>
              </a:ext>
            </a:extLst>
          </p:cNvPr>
          <p:cNvSpPr txBox="1"/>
          <p:nvPr/>
        </p:nvSpPr>
        <p:spPr>
          <a:xfrm>
            <a:off x="329862" y="1076920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RMSE: 3307,46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A5B8C73-1F1D-DE1B-9E45-4C33483B2ABB}"/>
              </a:ext>
            </a:extLst>
          </p:cNvPr>
          <p:cNvSpPr txBox="1"/>
          <p:nvPr/>
        </p:nvSpPr>
        <p:spPr>
          <a:xfrm>
            <a:off x="329862" y="3349793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VW: 16065,93€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F2BB607-1761-763E-7B84-4AA64BB7788D}"/>
              </a:ext>
            </a:extLst>
          </p:cNvPr>
          <p:cNvSpPr txBox="1"/>
          <p:nvPr/>
        </p:nvSpPr>
        <p:spPr>
          <a:xfrm>
            <a:off x="329862" y="2879378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Durchschnitt: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CF1BDEC-0F8D-A75E-076C-3B52C50F3C0E}"/>
              </a:ext>
            </a:extLst>
          </p:cNvPr>
          <p:cNvSpPr txBox="1"/>
          <p:nvPr/>
        </p:nvSpPr>
        <p:spPr>
          <a:xfrm>
            <a:off x="329862" y="3715196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Ford: 13791,45€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8BDFECB-93C7-B52F-F456-0D06229E9318}"/>
              </a:ext>
            </a:extLst>
          </p:cNvPr>
          <p:cNvSpPr txBox="1"/>
          <p:nvPr/>
        </p:nvSpPr>
        <p:spPr>
          <a:xfrm>
            <a:off x="329862" y="4103042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Opel: 10442,96€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F063081-1587-740E-2EEC-15BB77B1B0EA}"/>
              </a:ext>
            </a:extLst>
          </p:cNvPr>
          <p:cNvSpPr txBox="1"/>
          <p:nvPr/>
        </p:nvSpPr>
        <p:spPr>
          <a:xfrm>
            <a:off x="329862" y="709553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MSE: 10939304.44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21B4DEA-E6E2-1816-10BC-669AE7A05267}"/>
              </a:ext>
            </a:extLst>
          </p:cNvPr>
          <p:cNvSpPr txBox="1"/>
          <p:nvPr/>
        </p:nvSpPr>
        <p:spPr>
          <a:xfrm>
            <a:off x="329862" y="1444288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MAE: 1777,74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9730459-E8A4-1140-167F-36D90DA3D49C}"/>
              </a:ext>
            </a:extLst>
          </p:cNvPr>
          <p:cNvSpPr txBox="1"/>
          <p:nvPr/>
        </p:nvSpPr>
        <p:spPr>
          <a:xfrm>
            <a:off x="329862" y="1811655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</a:t>
            </a:r>
            <a:r>
              <a:rPr lang="de-DE" baseline="30000" dirty="0"/>
              <a:t>2</a:t>
            </a:r>
            <a:r>
              <a:rPr lang="de-DE" dirty="0"/>
              <a:t> Score: 0,88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23B4C5F-4B08-C9B6-6617-8406EDAD1B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471" y="-17742"/>
            <a:ext cx="9531529" cy="592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67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A35D0-396B-08CC-E02F-69C9E4C3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cken des Rechtecks auf der gleichen Seite abrunden 3">
            <a:extLst>
              <a:ext uri="{FF2B5EF4-FFF2-40B4-BE49-F238E27FC236}">
                <a16:creationId xmlns:a16="http://schemas.microsoft.com/office/drawing/2014/main" id="{5F27D9B4-5041-3B31-ED75-76B937B379D1}"/>
              </a:ext>
            </a:extLst>
          </p:cNvPr>
          <p:cNvSpPr/>
          <p:nvPr/>
        </p:nvSpPr>
        <p:spPr>
          <a:xfrm>
            <a:off x="0" y="5905500"/>
            <a:ext cx="12192000" cy="952500"/>
          </a:xfrm>
          <a:prstGeom prst="round2SameRect">
            <a:avLst>
              <a:gd name="adj1" fmla="val 29299"/>
              <a:gd name="adj2" fmla="val 0"/>
            </a:avLst>
          </a:prstGeom>
          <a:solidFill>
            <a:srgbClr val="F4F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Cabriolet mit einfarbiger Füllung">
            <a:extLst>
              <a:ext uri="{FF2B5EF4-FFF2-40B4-BE49-F238E27FC236}">
                <a16:creationId xmlns:a16="http://schemas.microsoft.com/office/drawing/2014/main" id="{511B54A1-01C4-792D-CF64-7C1B23BA2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6519" y="6243637"/>
            <a:ext cx="914400" cy="914400"/>
          </a:xfrm>
          <a:prstGeom prst="rect">
            <a:avLst/>
          </a:prstGeom>
        </p:spPr>
      </p:pic>
      <p:pic>
        <p:nvPicPr>
          <p:cNvPr id="6" name="Grafik 5" descr="Rennwagen mit einfarbiger Füllung">
            <a:extLst>
              <a:ext uri="{FF2B5EF4-FFF2-40B4-BE49-F238E27FC236}">
                <a16:creationId xmlns:a16="http://schemas.microsoft.com/office/drawing/2014/main" id="{D64F9B7B-2DAD-3F05-F7C0-041B49E64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3555" y="6243637"/>
            <a:ext cx="914400" cy="914400"/>
          </a:xfrm>
          <a:prstGeom prst="rect">
            <a:avLst/>
          </a:prstGeom>
        </p:spPr>
      </p:pic>
      <p:pic>
        <p:nvPicPr>
          <p:cNvPr id="7" name="Grafik 6" descr="Auto mit einfarbiger Füllung">
            <a:extLst>
              <a:ext uri="{FF2B5EF4-FFF2-40B4-BE49-F238E27FC236}">
                <a16:creationId xmlns:a16="http://schemas.microsoft.com/office/drawing/2014/main" id="{D4B3BE6E-7F7E-463D-0324-0D3DF6C4AC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1081" y="6229349"/>
            <a:ext cx="914400" cy="914400"/>
          </a:xfrm>
          <a:prstGeom prst="rect">
            <a:avLst/>
          </a:prstGeom>
        </p:spPr>
      </p:pic>
      <p:pic>
        <p:nvPicPr>
          <p:cNvPr id="17" name="Grafik 16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49158A00-C21C-79F7-1C37-62FAD4291DE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854"/>
          <a:stretch/>
        </p:blipFill>
        <p:spPr>
          <a:xfrm>
            <a:off x="329862" y="5994712"/>
            <a:ext cx="1068365" cy="86328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80958A7-B609-FDFE-32DF-7D2C6A65D61C}"/>
              </a:ext>
            </a:extLst>
          </p:cNvPr>
          <p:cNvSpPr txBox="1"/>
          <p:nvPr/>
        </p:nvSpPr>
        <p:spPr>
          <a:xfrm>
            <a:off x="9233976" y="3883566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RMSE: 3307,46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31CF57B-A9E6-92C2-204A-A7D54C24FE41}"/>
              </a:ext>
            </a:extLst>
          </p:cNvPr>
          <p:cNvSpPr txBox="1"/>
          <p:nvPr/>
        </p:nvSpPr>
        <p:spPr>
          <a:xfrm>
            <a:off x="9233976" y="3516199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MSE: 10939304.44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A86E1FB-F267-B485-CF97-5E0137E81FFE}"/>
              </a:ext>
            </a:extLst>
          </p:cNvPr>
          <p:cNvSpPr txBox="1"/>
          <p:nvPr/>
        </p:nvSpPr>
        <p:spPr>
          <a:xfrm>
            <a:off x="9233976" y="4250934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MAE: 1777,74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B29A0D4-9BC6-7F66-2F2F-70B187769CD1}"/>
              </a:ext>
            </a:extLst>
          </p:cNvPr>
          <p:cNvSpPr txBox="1"/>
          <p:nvPr/>
        </p:nvSpPr>
        <p:spPr>
          <a:xfrm>
            <a:off x="9233976" y="4618301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</a:t>
            </a:r>
            <a:r>
              <a:rPr lang="de-DE" baseline="30000" dirty="0"/>
              <a:t>2</a:t>
            </a:r>
            <a:r>
              <a:rPr lang="de-DE" dirty="0"/>
              <a:t> Score: 0,88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31233DE-863C-1ACD-55F7-B056F2FBC5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2520" y="1074667"/>
            <a:ext cx="3749480" cy="233006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14C3A27-6911-C0D3-AFE0-72F1175DC8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1259" y="1098935"/>
            <a:ext cx="3749481" cy="2330065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39FE8F83-4E26-3435-99E5-6C6944453F9C}"/>
              </a:ext>
            </a:extLst>
          </p:cNvPr>
          <p:cNvSpPr txBox="1"/>
          <p:nvPr/>
        </p:nvSpPr>
        <p:spPr>
          <a:xfrm>
            <a:off x="5087361" y="3880932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RMSE: 5360,58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7D63381-AA44-38DF-8DF8-46E422283D5D}"/>
              </a:ext>
            </a:extLst>
          </p:cNvPr>
          <p:cNvSpPr txBox="1"/>
          <p:nvPr/>
        </p:nvSpPr>
        <p:spPr>
          <a:xfrm>
            <a:off x="5087361" y="3513565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MSE: 28735781,21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C6B16BD-9EF4-E341-8090-FB6C2888DD79}"/>
              </a:ext>
            </a:extLst>
          </p:cNvPr>
          <p:cNvSpPr txBox="1"/>
          <p:nvPr/>
        </p:nvSpPr>
        <p:spPr>
          <a:xfrm>
            <a:off x="5087361" y="4248300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MAE: 3329,05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8B639CC-1C33-3CA4-9BA1-BA6BD10488D4}"/>
              </a:ext>
            </a:extLst>
          </p:cNvPr>
          <p:cNvSpPr txBox="1"/>
          <p:nvPr/>
        </p:nvSpPr>
        <p:spPr>
          <a:xfrm>
            <a:off x="5087361" y="4615667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</a:t>
            </a:r>
            <a:r>
              <a:rPr lang="de-DE" baseline="30000" dirty="0"/>
              <a:t>2</a:t>
            </a:r>
            <a:r>
              <a:rPr lang="de-DE" dirty="0"/>
              <a:t> Score: 0,69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26F0D04-69EC-56AA-6447-B37F956BB7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075964"/>
            <a:ext cx="3749481" cy="2330065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C63F5EFB-C861-4576-B413-6B65B23F5A63}"/>
              </a:ext>
            </a:extLst>
          </p:cNvPr>
          <p:cNvSpPr txBox="1"/>
          <p:nvPr/>
        </p:nvSpPr>
        <p:spPr>
          <a:xfrm>
            <a:off x="940746" y="3880932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RMSE: 4727,43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158A804-5DAD-9874-C2C6-F24B3CAFFC6B}"/>
              </a:ext>
            </a:extLst>
          </p:cNvPr>
          <p:cNvSpPr txBox="1"/>
          <p:nvPr/>
        </p:nvSpPr>
        <p:spPr>
          <a:xfrm>
            <a:off x="940746" y="3513565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MSE: 22348633,58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0B0AC46-F6E0-784C-22B5-8F369FC69ABA}"/>
              </a:ext>
            </a:extLst>
          </p:cNvPr>
          <p:cNvSpPr txBox="1"/>
          <p:nvPr/>
        </p:nvSpPr>
        <p:spPr>
          <a:xfrm>
            <a:off x="940746" y="4248300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MAE: 3013,94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C7E289F-F98D-F3C8-4A18-0A70089BCADB}"/>
              </a:ext>
            </a:extLst>
          </p:cNvPr>
          <p:cNvSpPr txBox="1"/>
          <p:nvPr/>
        </p:nvSpPr>
        <p:spPr>
          <a:xfrm>
            <a:off x="940746" y="4615667"/>
            <a:ext cx="235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</a:t>
            </a:r>
            <a:r>
              <a:rPr lang="de-DE" baseline="30000" dirty="0"/>
              <a:t>2</a:t>
            </a:r>
            <a:r>
              <a:rPr lang="de-DE" dirty="0"/>
              <a:t> Score: 0,76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7153BDC-E461-FEBB-AE3E-9867DD570652}"/>
              </a:ext>
            </a:extLst>
          </p:cNvPr>
          <p:cNvSpPr txBox="1"/>
          <p:nvPr/>
        </p:nvSpPr>
        <p:spPr>
          <a:xfrm>
            <a:off x="-1" y="737743"/>
            <a:ext cx="374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i="1" dirty="0"/>
              <a:t>Lineare Regression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6B4947C-EB9E-2B49-CB35-AF4049F699FE}"/>
              </a:ext>
            </a:extLst>
          </p:cNvPr>
          <p:cNvSpPr txBox="1"/>
          <p:nvPr/>
        </p:nvSpPr>
        <p:spPr>
          <a:xfrm>
            <a:off x="4221261" y="730586"/>
            <a:ext cx="374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i="1" dirty="0" err="1"/>
              <a:t>kNN</a:t>
            </a:r>
            <a:r>
              <a:rPr lang="de-DE" b="1" i="1" dirty="0"/>
              <a:t> Regression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3E3A925-FE61-4531-1DD0-09953464E98A}"/>
              </a:ext>
            </a:extLst>
          </p:cNvPr>
          <p:cNvSpPr txBox="1"/>
          <p:nvPr/>
        </p:nvSpPr>
        <p:spPr>
          <a:xfrm>
            <a:off x="8442521" y="729419"/>
            <a:ext cx="374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i="1" dirty="0"/>
              <a:t>Random Forest Regression</a:t>
            </a:r>
          </a:p>
        </p:txBody>
      </p:sp>
    </p:spTree>
    <p:extLst>
      <p:ext uri="{BB962C8B-B14F-4D97-AF65-F5344CB8AC3E}">
        <p14:creationId xmlns:p14="http://schemas.microsoft.com/office/powerpoint/2010/main" val="1929493496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Macintosh PowerPoint</Application>
  <PresentationFormat>Breitbild</PresentationFormat>
  <Paragraphs>194</Paragraphs>
  <Slides>19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Aptos</vt:lpstr>
      <vt:lpstr>Arial</vt:lpstr>
      <vt:lpstr>Goudy Old Style</vt:lpstr>
      <vt:lpstr>Univers Light</vt:lpstr>
      <vt:lpstr>PoiseVTI</vt:lpstr>
      <vt:lpstr>PowerPoint-Präsentation</vt:lpstr>
      <vt:lpstr>Inhaltsangabe</vt:lpstr>
      <vt:lpstr>Analyse</vt:lpstr>
      <vt:lpstr>Verkaufte Autos</vt:lpstr>
      <vt:lpstr>Marken</vt:lpstr>
      <vt:lpstr>Korrelation num. Features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Machine Learning</vt:lpstr>
      <vt:lpstr>PowerPoint-Präsentation</vt:lpstr>
      <vt:lpstr>Kategorie von ML - Regression</vt:lpstr>
      <vt:lpstr>Güte des Modells inkl. Fehlermetrik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Vogel, Dominik</dc:creator>
  <cp:lastModifiedBy>Vogel, Dominik</cp:lastModifiedBy>
  <cp:revision>7</cp:revision>
  <dcterms:created xsi:type="dcterms:W3CDTF">2024-10-30T08:57:49Z</dcterms:created>
  <dcterms:modified xsi:type="dcterms:W3CDTF">2024-10-31T09:41:55Z</dcterms:modified>
</cp:coreProperties>
</file>